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Click to move the slide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65D183-E42E-469D-8A80-113CAC0EAF48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8797E5-1E51-499B-9EE4-EBA46D93A5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7560E9-1EFB-4BCA-820D-E971132FE2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4C8C12-8E30-4613-84DE-4D76456D77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49E59E-E912-4F94-A577-EC554557A9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322837-E0EA-40A9-95C4-4AD14B51AB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4F7CB1-96D6-429B-A9B8-9C964DA036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09B44B-EA51-4AC5-9C4F-8917CDAB90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1D0C6A-13B5-41C4-8501-A1B6C0B8F6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4842DC-61B0-4AC2-9DF9-3B11ED12C7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https://www.mercadopago.com.ar/developers/es/docs/split-payments/split-1-1/overview,Fuente: https://www.mercadopago.com.ar/developers/es/docs/split-payments/split-1-1/prerequisites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518AD-6C36-4143-A8A1-EB3D2E5C6D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Fuente: https://arca.gob.ar/facturacion/monotributo/comprobantes.asp,Fuente: https://arca.gob.ar/facturacion/regimen-general/comprobantes.asp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5E352-D906-4816-9597-7DDA79F39A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AC3957-A999-4496-80B3-AA12C59D2D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0D84FC-841C-4D50-9A68-3365802CDF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1pPr>
          </a:lstStyle>
          <a:p>
            <a:pPr indent="0" algn="l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Click to edit the title text format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Click to edit the outline text format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Second Outline Level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Third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Fourth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Fifth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Sixth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Avenir Next"/>
              </a:rPr>
              <a:t>Seventh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Avenir Nex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Users/ezequiel/Documents/Repositorios/hogarconectado-backend/docs/presentaciones/assets/ecosistema-comercial.png"/>
          <p:cNvPicPr/>
          <p:nvPr/>
        </p:nvPicPr>
        <p:blipFill>
          <a:blip r:embed="rId1"/>
          <a:stretch/>
        </p:blipFill>
        <p:spPr>
          <a:xfrm>
            <a:off x="5870520" y="0"/>
            <a:ext cx="63180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548640" y="530280"/>
            <a:ext cx="1965600" cy="383760"/>
          </a:xfrm>
          <a:prstGeom prst="roundRect">
            <a:avLst>
              <a:gd name="adj" fmla="val 23810"/>
            </a:avLst>
          </a:prstGeom>
          <a:solidFill>
            <a:srgbClr val="E8FFF7"/>
          </a:solidFill>
          <a:ln w="12700">
            <a:solidFill>
              <a:srgbClr val="E8FF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40080" y="57600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GUÍA OPERATIVA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67000" y="1298520"/>
            <a:ext cx="5028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Cómo funciona una venta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85360" y="2541960"/>
            <a:ext cx="495576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Atribución, cobro, entrega y reparto de comisiones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585360" y="5358240"/>
            <a:ext cx="48092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Reglas propuestas para el piloto comercial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El principio que ordena cada operación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Antes de publicar, definimos quién responde ante el comprador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502920" y="1627560"/>
            <a:ext cx="2788560" cy="3126960"/>
          </a:xfrm>
          <a:prstGeom prst="roundRect">
            <a:avLst>
              <a:gd name="adj" fmla="val 3279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704160" y="1792080"/>
            <a:ext cx="2386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Quién vende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704160" y="2249280"/>
            <a:ext cx="23860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Titular comercial del producto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3429000" y="1627560"/>
            <a:ext cx="2788560" cy="3126960"/>
          </a:xfrm>
          <a:prstGeom prst="roundRect">
            <a:avLst>
              <a:gd name="adj" fmla="val 3279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3630240" y="1792080"/>
            <a:ext cx="2386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Quién cobra y factura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3630240" y="2249280"/>
            <a:ext cx="23860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vendedor definido en la ficha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6355080" y="1627560"/>
            <a:ext cx="2788560" cy="3126960"/>
          </a:xfrm>
          <a:prstGeom prst="roundRect">
            <a:avLst>
              <a:gd name="adj" fmla="val 3279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6556320" y="1792080"/>
            <a:ext cx="2386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Quién entrega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6556320" y="2249280"/>
            <a:ext cx="23860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Responsable y plazo visibles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9281160" y="1627560"/>
            <a:ext cx="2788560" cy="3126960"/>
          </a:xfrm>
          <a:prstGeom prst="roundRect">
            <a:avLst>
              <a:gd name="adj" fmla="val 3279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9482400" y="1792080"/>
            <a:ext cx="2386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Quién reparte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9482400" y="2249280"/>
            <a:ext cx="23860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La plataforma calcula; quien cobró paga las comisiones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914400" y="5175360"/>
            <a:ext cx="10378080" cy="667080"/>
          </a:xfrm>
          <a:prstGeom prst="roundRect">
            <a:avLst>
              <a:gd name="adj" fmla="val 13699"/>
            </a:avLst>
          </a:prstGeom>
          <a:solidFill>
            <a:srgbClr val="6964F4"/>
          </a:solidFill>
          <a:ln w="12700">
            <a:solidFill>
              <a:srgbClr val="696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1170360" y="5294520"/>
            <a:ext cx="98751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venir Next"/>
                <a:ea typeface="Avenir Next"/>
              </a:rPr>
              <a:t>Si no podemos explicar estos cuatro puntos, el producto admite consultas, no compra inmediata.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Cómo promociona un vendedor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Su vidriera identifica el origen sin duplicar catálogo ni stock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/Users/ezequiel/Documents/Repositorios/hogarconectado-backend/docs/presentaciones/assets/vidriera-vendedor.png"/>
          <p:cNvPicPr/>
          <p:nvPr/>
        </p:nvPicPr>
        <p:blipFill>
          <a:blip r:embed="rId1"/>
          <a:stretch/>
        </p:blipFill>
        <p:spPr>
          <a:xfrm>
            <a:off x="502920" y="1371600"/>
            <a:ext cx="5531760" cy="434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Shape 2"/>
          <p:cNvSpPr/>
          <p:nvPr/>
        </p:nvSpPr>
        <p:spPr>
          <a:xfrm>
            <a:off x="6473880" y="1481400"/>
            <a:ext cx="484200" cy="484200"/>
          </a:xfrm>
          <a:prstGeom prst="roundRect">
            <a:avLst>
              <a:gd name="adj" fmla="val 18868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6473880" y="1508760"/>
            <a:ext cx="48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1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7132320" y="1463040"/>
            <a:ext cx="4343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Elige productos autorizados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6473880" y="2560320"/>
            <a:ext cx="484200" cy="484200"/>
          </a:xfrm>
          <a:prstGeom prst="roundRect">
            <a:avLst>
              <a:gd name="adj" fmla="val 18868"/>
            </a:avLst>
          </a:prstGeom>
          <a:solidFill>
            <a:srgbClr val="AEB6FF"/>
          </a:solidFill>
          <a:ln w="12700">
            <a:solidFill>
              <a:srgbClr val="AEB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6473880" y="2587680"/>
            <a:ext cx="48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2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7132320" y="2541960"/>
            <a:ext cx="4343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Comparte su enlace o QR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6473880" y="3639240"/>
            <a:ext cx="484200" cy="484200"/>
          </a:xfrm>
          <a:prstGeom prst="roundRect">
            <a:avLst>
              <a:gd name="adj" fmla="val 18868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6473880" y="3666600"/>
            <a:ext cx="48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3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7132320" y="3620880"/>
            <a:ext cx="4343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El cliente consulta o compra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6473880" y="4718160"/>
            <a:ext cx="484200" cy="484200"/>
          </a:xfrm>
          <a:prstGeom prst="roundRect">
            <a:avLst>
              <a:gd name="adj" fmla="val 18868"/>
            </a:avLst>
          </a:prstGeom>
          <a:solidFill>
            <a:srgbClr val="AEB6FF"/>
          </a:solidFill>
          <a:ln w="12700">
            <a:solidFill>
              <a:srgbClr val="AEB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6473880" y="4745880"/>
            <a:ext cx="48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4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7132320" y="4700160"/>
            <a:ext cx="4343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La operación conserva el vendedor de origen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6492240" y="5779080"/>
            <a:ext cx="2422800" cy="383760"/>
          </a:xfrm>
          <a:prstGeom prst="roundRect">
            <a:avLst>
              <a:gd name="adj" fmla="val 23810"/>
            </a:avLst>
          </a:prstGeom>
          <a:solidFill>
            <a:srgbClr val="F6F7FF"/>
          </a:solidFill>
          <a:ln w="12700">
            <a:solidFill>
              <a:srgbClr val="F6F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6583680" y="582480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Visita: referencia provisional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6"/>
          <p:cNvSpPr/>
          <p:nvPr/>
        </p:nvSpPr>
        <p:spPr>
          <a:xfrm>
            <a:off x="9079920" y="5779080"/>
            <a:ext cx="2514240" cy="383760"/>
          </a:xfrm>
          <a:prstGeom prst="roundRect">
            <a:avLst>
              <a:gd name="adj" fmla="val 23810"/>
            </a:avLst>
          </a:prstGeom>
          <a:solidFill>
            <a:srgbClr val="E8FFF7"/>
          </a:solidFill>
          <a:ln w="12700">
            <a:solidFill>
              <a:srgbClr val="E8FF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9171360" y="582480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Consulta: atribución firme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Una consulta para un vendedor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La notificación avisa; la bandeja conserva el registro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594360" y="1517760"/>
            <a:ext cx="3364560" cy="2697120"/>
          </a:xfrm>
          <a:prstGeom prst="roundRect">
            <a:avLst>
              <a:gd name="adj" fmla="val 3390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795600" y="1682640"/>
            <a:ext cx="296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Comprador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795600" y="2139840"/>
            <a:ext cx="296244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Consulta desde la vidriera o enlace personal. Ve un solo canal de respuesta.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4398120" y="1517760"/>
            <a:ext cx="3364560" cy="2697120"/>
          </a:xfrm>
          <a:prstGeom prst="roundRect">
            <a:avLst>
              <a:gd name="adj" fmla="val 3390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599360" y="1682640"/>
            <a:ext cx="296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Vendedor de origen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4599360" y="2139840"/>
            <a:ext cx="296244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Recibe push y aviso persistente. Toma la consulta y responde.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8"/>
          <p:cNvSpPr/>
          <p:nvPr/>
        </p:nvSpPr>
        <p:spPr>
          <a:xfrm>
            <a:off x="8202240" y="1517760"/>
            <a:ext cx="3364560" cy="2697120"/>
          </a:xfrm>
          <a:prstGeom prst="roundRect">
            <a:avLst>
              <a:gd name="adj" fmla="val 3390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8403480" y="1682640"/>
            <a:ext cx="296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Administrador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8403480" y="2139840"/>
            <a:ext cx="296244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Recibe aviso informativo: cliente, producto y vendedor atribuido. Supervisa demoras.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3986640" y="2779560"/>
            <a:ext cx="365760" cy="360"/>
          </a:xfrm>
          <a:prstGeom prst="line">
            <a:avLst/>
          </a:prstGeom>
          <a:ln w="25400">
            <a:solidFill>
              <a:srgbClr val="696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7790400" y="2779560"/>
            <a:ext cx="365760" cy="360"/>
          </a:xfrm>
          <a:prstGeom prst="line">
            <a:avLst/>
          </a:prstGeom>
          <a:ln w="25400">
            <a:solidFill>
              <a:srgbClr val="696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914400" y="4681800"/>
            <a:ext cx="1033236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Si el vendedor no responde, se reasigna la atención. La comisión de origen no cambia en silencio.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Quién recibe el dinero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Modelo recomendado para un piloto con productos propios y de terceros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676800" y="1444680"/>
            <a:ext cx="10853640" cy="987120"/>
          </a:xfrm>
          <a:prstGeom prst="roundRect">
            <a:avLst>
              <a:gd name="adj" fmla="val 9259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951120" y="1591200"/>
            <a:ext cx="43430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Producto propio de Hogar Conectado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5504760" y="1600200"/>
            <a:ext cx="559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Hogar Conectado cobra y factura la venta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676800" y="2679120"/>
            <a:ext cx="10853640" cy="987120"/>
          </a:xfrm>
          <a:prstGeom prst="roundRect">
            <a:avLst>
              <a:gd name="adj" fmla="val 9259"/>
            </a:avLst>
          </a:prstGeom>
          <a:solidFill>
            <a:srgbClr val="F2F3FF"/>
          </a:solidFill>
          <a:ln w="12700">
            <a:solidFill>
              <a:srgbClr val="F2F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951120" y="2825640"/>
            <a:ext cx="43430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Producto de un tercero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5504760" y="2834640"/>
            <a:ext cx="559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titular comercial definido cobra y factura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676800" y="3913560"/>
            <a:ext cx="10853640" cy="987120"/>
          </a:xfrm>
          <a:prstGeom prst="roundRect">
            <a:avLst>
              <a:gd name="adj" fmla="val 9259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951120" y="4060080"/>
            <a:ext cx="43430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Producto de catálogo sin stock confirmado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5504760" y="4069080"/>
            <a:ext cx="559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Primero se confirma disponibilidad; luego se cobra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987480" y="5532120"/>
            <a:ext cx="10240920" cy="603000"/>
          </a:xfrm>
          <a:prstGeom prst="roundRect">
            <a:avLst>
              <a:gd name="adj" fmla="val 15152"/>
            </a:avLst>
          </a:prstGeom>
          <a:solidFill>
            <a:srgbClr val="6964F4"/>
          </a:solidFill>
          <a:ln w="12700">
            <a:solidFill>
              <a:srgbClr val="696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1152000" y="5605200"/>
            <a:ext cx="987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venir Next"/>
                <a:ea typeface="Avenir Next"/>
              </a:rPr>
              <a:t>Evitar que el administrador cobre todas las ventas ajenas en su cuenta personal y luego reparta.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Quién entrega el producto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comprador conoce al responsable y las condiciones antes de pagar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0" descr="/Users/ezequiel/Documents/Repositorios/hogarconectado-backend/docs/presentaciones/assets/compra-segura.png"/>
          <p:cNvPicPr/>
          <p:nvPr/>
        </p:nvPicPr>
        <p:blipFill>
          <a:blip r:embed="rId1"/>
          <a:stretch/>
        </p:blipFill>
        <p:spPr>
          <a:xfrm>
            <a:off x="6336720" y="1316880"/>
            <a:ext cx="5348880" cy="440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Shape 2"/>
          <p:cNvSpPr/>
          <p:nvPr/>
        </p:nvSpPr>
        <p:spPr>
          <a:xfrm>
            <a:off x="530280" y="1417320"/>
            <a:ext cx="145800" cy="712800"/>
          </a:xfrm>
          <a:prstGeom prst="roundRect">
            <a:avLst>
              <a:gd name="adj" fmla="val 62500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831960" y="1417320"/>
            <a:ext cx="5056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Stock propio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841320" y="1764720"/>
            <a:ext cx="5047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vendedor comercial reserva y prepara.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530280" y="2496240"/>
            <a:ext cx="145800" cy="712800"/>
          </a:xfrm>
          <a:prstGeom prst="roundRect">
            <a:avLst>
              <a:gd name="adj" fmla="val 62500"/>
            </a:avLst>
          </a:prstGeom>
          <a:solidFill>
            <a:srgbClr val="6964F4"/>
          </a:solidFill>
          <a:ln w="12700">
            <a:solidFill>
              <a:srgbClr val="696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831960" y="2496240"/>
            <a:ext cx="5056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Stock de un tercero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41320" y="2843640"/>
            <a:ext cx="5047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proveedor confirma y entrega, o designa operador.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530280" y="3575160"/>
            <a:ext cx="145800" cy="712800"/>
          </a:xfrm>
          <a:prstGeom prst="roundRect">
            <a:avLst>
              <a:gd name="adj" fmla="val 62500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831960" y="3575160"/>
            <a:ext cx="5056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Envío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841320" y="3922920"/>
            <a:ext cx="5047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Costo y responsable separados del margen.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530280" y="4654440"/>
            <a:ext cx="145800" cy="712800"/>
          </a:xfrm>
          <a:prstGeom prst="roundRect">
            <a:avLst>
              <a:gd name="adj" fmla="val 62500"/>
            </a:avLst>
          </a:prstGeom>
          <a:solidFill>
            <a:srgbClr val="6964F4"/>
          </a:solidFill>
          <a:ln w="12700">
            <a:solidFill>
              <a:srgbClr val="6964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831960" y="4654440"/>
            <a:ext cx="5056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Incidente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841320" y="5001840"/>
            <a:ext cx="5047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responsable de venta responde; el admin registra.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Pago, entrega y comisión son estados distintos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Una venta confirmada todavía puede estar impaga o sin entregar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411480" y="1947600"/>
            <a:ext cx="2761200" cy="1938240"/>
          </a:xfrm>
          <a:prstGeom prst="roundRect">
            <a:avLst>
              <a:gd name="adj" fmla="val 4717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594360" y="2103120"/>
            <a:ext cx="4478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1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594360" y="2706480"/>
            <a:ext cx="240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Pedido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594360" y="3173040"/>
            <a:ext cx="2404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Precio y reparto congelados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3383280" y="1947600"/>
            <a:ext cx="2761200" cy="1938240"/>
          </a:xfrm>
          <a:prstGeom prst="roundRect">
            <a:avLst>
              <a:gd name="adj" fmla="val 4717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3566160" y="2103120"/>
            <a:ext cx="4478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2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3566160" y="2706480"/>
            <a:ext cx="240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Pago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3566160" y="3173040"/>
            <a:ext cx="2404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Acreditación verificada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6355080" y="1947600"/>
            <a:ext cx="2761200" cy="1938240"/>
          </a:xfrm>
          <a:prstGeom prst="roundRect">
            <a:avLst>
              <a:gd name="adj" fmla="val 4717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6537960" y="2103120"/>
            <a:ext cx="4478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3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6537960" y="2706480"/>
            <a:ext cx="240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Entrega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6537960" y="3173040"/>
            <a:ext cx="2404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Comprobante o recepción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9326880" y="1947600"/>
            <a:ext cx="2761200" cy="1938240"/>
          </a:xfrm>
          <a:prstGeom prst="roundRect">
            <a:avLst>
              <a:gd name="adj" fmla="val 4717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9509760" y="2103120"/>
            <a:ext cx="4478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4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9509760" y="2706480"/>
            <a:ext cx="240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Liquidación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9509760" y="3173040"/>
            <a:ext cx="2404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Comisiones pagadas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1005840" y="4855320"/>
            <a:ext cx="101952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Una captura de pantalla no prueba que el dinero se acreditó. Un pago acreditado no prueba la entrega.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Cómo se distribuye el margen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Ejemplo ilustrativo: venta de $192.500 con base de $175.000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713160" y="1536120"/>
            <a:ext cx="320004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$175.000</a:t>
            </a:r>
            <a:endParaRPr lang="es-A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713160" y="2221920"/>
            <a:ext cx="3337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para el titular del producto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4617720" y="1536120"/>
            <a:ext cx="320004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$17.500</a:t>
            </a:r>
            <a:endParaRPr lang="es-A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4617720" y="2221920"/>
            <a:ext cx="3245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margen a distribuir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685800" y="3182040"/>
            <a:ext cx="3584160" cy="1371240"/>
          </a:xfrm>
          <a:prstGeom prst="roundRect">
            <a:avLst>
              <a:gd name="adj" fmla="val 6667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50320" y="3355920"/>
            <a:ext cx="10512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60%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1993320" y="3337560"/>
            <a:ext cx="1992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$10.500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850320" y="39686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Vendedor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4526280" y="3182040"/>
            <a:ext cx="3584160" cy="1371240"/>
          </a:xfrm>
          <a:prstGeom prst="roundRect">
            <a:avLst>
              <a:gd name="adj" fmla="val 6667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4690800" y="3355920"/>
            <a:ext cx="10512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30%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5833800" y="3337560"/>
            <a:ext cx="1992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$5.250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4690800" y="39686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Incorporador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8366760" y="3182040"/>
            <a:ext cx="3584160" cy="1371240"/>
          </a:xfrm>
          <a:prstGeom prst="roundRect">
            <a:avLst>
              <a:gd name="adj" fmla="val 6667"/>
            </a:avLst>
          </a:prstGeom>
          <a:solidFill>
            <a:srgbClr val="ECEBFF"/>
          </a:solidFill>
          <a:ln w="12700">
            <a:solidFill>
              <a:srgbClr val="ECE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8531280" y="3355920"/>
            <a:ext cx="10512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10%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9674280" y="3337560"/>
            <a:ext cx="1992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$1.750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8531280" y="3968640"/>
            <a:ext cx="3200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Plataforma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768240" y="5193720"/>
            <a:ext cx="106981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Costos de pago, impuestos, descuentos y devoluciones deben tener una regla previa.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Quién paga las comisiones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cálculo de la plataforma y el movimiento real del dinero se registran por separado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576000" y="1252800"/>
            <a:ext cx="511560" cy="511560"/>
          </a:xfrm>
          <a:prstGeom prst="roundRect">
            <a:avLst>
              <a:gd name="adj" fmla="val 17857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576000" y="1298520"/>
            <a:ext cx="5115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1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325880" y="1243440"/>
            <a:ext cx="32914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El comprador paga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4608720" y="1225440"/>
            <a:ext cx="6994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A la cuenta del vendedor comercial identificado.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576000" y="2313360"/>
            <a:ext cx="511560" cy="511560"/>
          </a:xfrm>
          <a:prstGeom prst="roundRect">
            <a:avLst>
              <a:gd name="adj" fmla="val 17857"/>
            </a:avLst>
          </a:prstGeom>
          <a:solidFill>
            <a:srgbClr val="AEB6FF"/>
          </a:solidFill>
          <a:ln w="12700">
            <a:solidFill>
              <a:srgbClr val="AEB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76000" y="2359080"/>
            <a:ext cx="5115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2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1325880" y="2304360"/>
            <a:ext cx="32914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Se acredita y entrega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4608720" y="2286000"/>
            <a:ext cx="6994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cobrador verifica fondos; el responsable registra la entrega.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576000" y="3374280"/>
            <a:ext cx="511560" cy="511560"/>
          </a:xfrm>
          <a:prstGeom prst="roundRect">
            <a:avLst>
              <a:gd name="adj" fmla="val 17857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576000" y="3420000"/>
            <a:ext cx="5115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3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1325880" y="3364920"/>
            <a:ext cx="32914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La plataforma liquida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4608720" y="3346560"/>
            <a:ext cx="6994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Calcula importes congelados y muestra comprobantes pendientes.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576000" y="4434840"/>
            <a:ext cx="511560" cy="511560"/>
          </a:xfrm>
          <a:prstGeom prst="roundRect">
            <a:avLst>
              <a:gd name="adj" fmla="val 17857"/>
            </a:avLst>
          </a:prstGeom>
          <a:solidFill>
            <a:srgbClr val="AEB6FF"/>
          </a:solidFill>
          <a:ln w="12700">
            <a:solidFill>
              <a:srgbClr val="AEB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576000" y="4480560"/>
            <a:ext cx="51156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4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1325880" y="4425840"/>
            <a:ext cx="32914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El cobrador transfiere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4608720" y="4407480"/>
            <a:ext cx="6994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Paga a promotor y plataforma según contrato; el admin concilia.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1097280" y="5779080"/>
            <a:ext cx="100123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Comisión calculada no significa comisión pagada.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¿Sirve una cuenta de Mercado Pago del administrador?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Una cuenta propia sirve para ventas propias; no resuelve automáticamente ventas de terceros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76000" y="1572840"/>
            <a:ext cx="5330520" cy="3520080"/>
          </a:xfrm>
          <a:prstGeom prst="roundRect">
            <a:avLst>
              <a:gd name="adj" fmla="val 2597"/>
            </a:avLst>
          </a:prstGeom>
          <a:solidFill>
            <a:srgbClr val="FFF6F3"/>
          </a:solidFill>
          <a:ln w="12700">
            <a:solidFill>
              <a:srgbClr val="FFF6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777240" y="1737360"/>
            <a:ext cx="492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Cobro manual centralizado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777240" y="2194560"/>
            <a:ext cx="492840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Concentra dinero ajeno, contracargos y conciliación. Puede alterar la responsabilidad fiscal y contractual. No es la opción general recomendada.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6236280" y="1572840"/>
            <a:ext cx="5330520" cy="3520080"/>
          </a:xfrm>
          <a:prstGeom prst="roundRect">
            <a:avLst>
              <a:gd name="adj" fmla="val 2597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6437520" y="1737360"/>
            <a:ext cx="4928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Checkout marketplace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6437520" y="2194560"/>
            <a:ext cx="492840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Mercado Pago ofrece Split 1:1 entre vendedor y plataforma. No reparte automáticamente entre todos los participantes de este modelo. El 1:N exige acceso comercial especial.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969120" y="5550480"/>
            <a:ext cx="1033236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Primero probar rendiciones documentadas. Después evaluar integración y costos reales.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¿Hay que facturar?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La respuesta depende de quién vende jurídicamente y qué servicio presta cada parte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612720" y="1289160"/>
            <a:ext cx="10954080" cy="868320"/>
          </a:xfrm>
          <a:prstGeom prst="roundRect">
            <a:avLst>
              <a:gd name="adj" fmla="val 10526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859680" y="14356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Venta al comprador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3822120" y="1408320"/>
            <a:ext cx="7406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vendedor comercial definido emite el comprobante que corresponda.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5"/>
          <p:cNvSpPr/>
          <p:nvPr/>
        </p:nvSpPr>
        <p:spPr>
          <a:xfrm>
            <a:off x="612720" y="2359080"/>
            <a:ext cx="10954080" cy="868320"/>
          </a:xfrm>
          <a:prstGeom prst="roundRect">
            <a:avLst>
              <a:gd name="adj" fmla="val 10526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859680" y="25056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Comisión del promotor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3822120" y="2477880"/>
            <a:ext cx="7406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Revisar el comprobante por su servicio y a quién lo emite.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612720" y="3429000"/>
            <a:ext cx="10954080" cy="868320"/>
          </a:xfrm>
          <a:prstGeom prst="roundRect">
            <a:avLst>
              <a:gd name="adj" fmla="val 10526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859680" y="357516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Participación de la plataforma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3822120" y="3547800"/>
            <a:ext cx="7406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Documentar el servicio y el ingreso de Hogar Conectado.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612720" y="4498920"/>
            <a:ext cx="10954080" cy="868320"/>
          </a:xfrm>
          <a:prstGeom prst="roundRect">
            <a:avLst>
              <a:gd name="adj" fmla="val 10526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859680" y="46450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Antes de escalar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3822120" y="4617720"/>
            <a:ext cx="74062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Un contador y un asesor legal validan contratos, impuestos y devoluciones.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Escenarios de operación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La misma interfaz puede conducir a cierres diferentes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557640" y="1252800"/>
            <a:ext cx="11018160" cy="767880"/>
          </a:xfrm>
          <a:prstGeom prst="roundRect">
            <a:avLst>
              <a:gd name="adj" fmla="val 11905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804600" y="1344240"/>
            <a:ext cx="27428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Venta propia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3420000" y="1344240"/>
            <a:ext cx="790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Hogar Conectado cobra, factura y entrega; vendedor de origen cobra comisión.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557640" y="2203560"/>
            <a:ext cx="11018160" cy="767880"/>
          </a:xfrm>
          <a:prstGeom prst="roundRect">
            <a:avLst>
              <a:gd name="adj" fmla="val 11905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804600" y="2295000"/>
            <a:ext cx="27428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Venta de tercero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3420000" y="2295000"/>
            <a:ext cx="790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El tercero cobra, factura y entrega; la plataforma registra y concilia.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557640" y="3154680"/>
            <a:ext cx="11018160" cy="767880"/>
          </a:xfrm>
          <a:prstGeom prst="roundRect">
            <a:avLst>
              <a:gd name="adj" fmla="val 11905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804600" y="3246120"/>
            <a:ext cx="27428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Catálogo incierto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3420000" y="3246120"/>
            <a:ext cx="790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Consulta, confirmación de stock y nueva propuesta antes del pago.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1"/>
          <p:cNvSpPr/>
          <p:nvPr/>
        </p:nvSpPr>
        <p:spPr>
          <a:xfrm>
            <a:off x="557640" y="4105800"/>
            <a:ext cx="11018160" cy="767880"/>
          </a:xfrm>
          <a:prstGeom prst="roundRect">
            <a:avLst>
              <a:gd name="adj" fmla="val 11905"/>
            </a:avLst>
          </a:prstGeom>
          <a:solidFill>
            <a:srgbClr val="F1F2FF"/>
          </a:solidFill>
          <a:ln w="12700">
            <a:solidFill>
              <a:srgbClr val="F1F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804600" y="4197240"/>
            <a:ext cx="27428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Varios proveedores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3420000" y="4197240"/>
            <a:ext cx="790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Una consulta; subpedidos, cobros, facturas y entregas separados.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557640" y="5056560"/>
            <a:ext cx="11018160" cy="767880"/>
          </a:xfrm>
          <a:prstGeom prst="roundRect">
            <a:avLst>
              <a:gd name="adj" fmla="val 11905"/>
            </a:avLst>
          </a:prstGeom>
          <a:solidFill>
            <a:srgbClr val="E9FFF8"/>
          </a:solidFill>
          <a:ln w="12700">
            <a:solidFill>
              <a:srgbClr val="E9FF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804600" y="5148000"/>
            <a:ext cx="274284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Devolución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3420000" y="5148000"/>
            <a:ext cx="790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Se suspende la liquidación y se recalculan o revierten comisiones.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02920" y="36576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Decisiones antes de activar la compra inmediata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30280" y="877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506B"/>
                </a:solidFill>
                <a:effectLst/>
                <a:uFillTx/>
                <a:latin typeface="Avenir Next"/>
                <a:ea typeface="Avenir Next"/>
              </a:rPr>
              <a:t>Estas definiciones convierten la promesa comercial en una operación verificable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667440" y="1353240"/>
            <a:ext cx="438480" cy="438480"/>
          </a:xfrm>
          <a:prstGeom prst="roundRect">
            <a:avLst>
              <a:gd name="adj" fmla="val 20833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667440" y="1371600"/>
            <a:ext cx="438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1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1362600" y="1334880"/>
            <a:ext cx="9783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Titular comercial y emisor de factura por producto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5"/>
          <p:cNvSpPr/>
          <p:nvPr/>
        </p:nvSpPr>
        <p:spPr>
          <a:xfrm>
            <a:off x="667440" y="2295000"/>
            <a:ext cx="438480" cy="438480"/>
          </a:xfrm>
          <a:prstGeom prst="roundRect">
            <a:avLst>
              <a:gd name="adj" fmla="val 20833"/>
            </a:avLst>
          </a:prstGeom>
          <a:solidFill>
            <a:srgbClr val="AEB6FF"/>
          </a:solidFill>
          <a:ln w="12700">
            <a:solidFill>
              <a:srgbClr val="AEB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667440" y="2313360"/>
            <a:ext cx="438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2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1362600" y="2277000"/>
            <a:ext cx="9783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Cuenta que cobra y forma de acreditar el pago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8"/>
          <p:cNvSpPr/>
          <p:nvPr/>
        </p:nvSpPr>
        <p:spPr>
          <a:xfrm>
            <a:off x="667440" y="3237120"/>
            <a:ext cx="438480" cy="438480"/>
          </a:xfrm>
          <a:prstGeom prst="roundRect">
            <a:avLst>
              <a:gd name="adj" fmla="val 20833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667440" y="3255120"/>
            <a:ext cx="438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3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1362600" y="3218760"/>
            <a:ext cx="9783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Responsable de stock, entrega y reclamos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667440" y="4178880"/>
            <a:ext cx="438480" cy="438480"/>
          </a:xfrm>
          <a:prstGeom prst="roundRect">
            <a:avLst>
              <a:gd name="adj" fmla="val 20833"/>
            </a:avLst>
          </a:prstGeom>
          <a:solidFill>
            <a:srgbClr val="AEB6FF"/>
          </a:solidFill>
          <a:ln w="12700">
            <a:solidFill>
              <a:srgbClr val="AEB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667440" y="4197240"/>
            <a:ext cx="438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4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1362600" y="4160520"/>
            <a:ext cx="9783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Costo de envío y condiciones de cancelación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4"/>
          <p:cNvSpPr/>
          <p:nvPr/>
        </p:nvSpPr>
        <p:spPr>
          <a:xfrm>
            <a:off x="667440" y="5120640"/>
            <a:ext cx="438480" cy="438480"/>
          </a:xfrm>
          <a:prstGeom prst="roundRect">
            <a:avLst>
              <a:gd name="adj" fmla="val 20833"/>
            </a:avLst>
          </a:prstGeom>
          <a:solidFill>
            <a:srgbClr val="5FD4BF"/>
          </a:solidFill>
          <a:ln w="12700">
            <a:solidFill>
              <a:srgbClr val="5F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667440" y="5139000"/>
            <a:ext cx="4384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5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1362600" y="5102280"/>
            <a:ext cx="9783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284B"/>
                </a:solidFill>
                <a:effectLst/>
                <a:uFillTx/>
                <a:latin typeface="Avenir Next"/>
                <a:ea typeface="Avenir Next"/>
              </a:rPr>
              <a:t>Regla de margen, comisiones y liquidación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7"/>
          <p:cNvSpPr/>
          <p:nvPr/>
        </p:nvSpPr>
        <p:spPr>
          <a:xfrm>
            <a:off x="795600" y="604404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964F4"/>
                </a:solidFill>
                <a:effectLst/>
                <a:uFillTx/>
                <a:latin typeface="Avenir Next"/>
                <a:ea typeface="Avenir Next"/>
              </a:rPr>
              <a:t>Hasta completar esta ficha, mostrar “Consultar” en lugar de “Comprar ahora”.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2026-09-21T13:40:03Z</dcterms:created>
  <dc:creator>Hogar Conectado</dc:creator>
  <dc:description/>
  <dc:language>es-AR</dc:language>
  <cp:lastModifiedBy>Hogar Conectado</cp:lastModifiedBy>
  <dcterms:modified xsi:type="dcterms:W3CDTF">2026-09-21T13:40:03Z</dcterms:modified>
  <cp:revision>1</cp:revision>
  <dc:subject>Operación comercial, atribución, cobro y entrega</dc:subject>
  <dc:title>Cómo funciona una venta en Hogar Conectado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