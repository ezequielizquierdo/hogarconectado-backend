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move the slide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F57181F-AD0D-4DAB-902F-FFB01BCE2FFC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Presentación basada en la guía actualizada con feedback de usuarios.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D9B8E-B628-4B15-9BFD-212979E9FF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La plataforma debe demostrar valor mediante un piloto y métricas reales.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DAC139-3DC3-4A27-9D5D-502A215D4B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Resumen de la propuesta para los cuatro participantes.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81EA42-BF24-4217-8D6E-9324AB6A3A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La promesa no incluye ventas garantizadas ni exclusividad.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83A3CE-091D-461C-8761-0F83AC7033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El vendedor puede ofrecer productos propios y productos incorporados por otras personas.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0AF9D7-472E-44AF-9DA3-6D8FF1D2BB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Regla recomendada para el piloto. Puede configurarse por producto.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27E8C9-F73E-44DD-843B-E4EA28C4C3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La participación de la plataforma debe reflejar el servicio realmente prestado.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9216A2-A041-4BB7-9A93-DB3B87237F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El administrador no decide manualmente quién gana después de la venta.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EA660-90FF-4C79-A2F0-6B925A6662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Ninguna plataforma garantiza por sí sola que una persona pagará o entregará.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08100-061E-4CAC-B1EF-74ADA72622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Propuesta: clic provisional por siete días y atribución protegida por treinta días tras una acción verificable.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9FC48-D39C-4857-A32A-FE2087CEF5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La compra directa requiere precio final, stock confirmado y condiciones de entrega definidas.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7F78A7-E759-4F24-A0AE-16724D091E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Selección de objeciones centrales recibidas en la sesión de feedback.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842DE-8251-4D36-835A-4983B9B61E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La integración de pagos requiere validación legal, fiscal y de prevención de fraude.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8BA447-48F6-406F-80C3-2E8F81083D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Guía comercial de Hogar Conectado. Cierre de la guía comercial.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31E4CF-D133-4634-9F4E-C0C6D30634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edit the title text format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edit the outline text format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Second Outline Level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Third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Fourth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Fifth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Sixth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Seventh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C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edit the title text format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edit the outline text format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Second Outline Level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Third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Fourth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Fifth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Sixth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Seventh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 rot="1500000">
            <a:off x="-822600" y="-960120"/>
            <a:ext cx="3017160" cy="301716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AEB3FF"/>
          </a:solidFill>
          <a:ln w="12700">
            <a:solidFill>
              <a:srgbClr val="AEB3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 rot="12600000">
            <a:off x="10424520" y="493812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63DFC4"/>
          </a:solidFill>
          <a:ln w="12700">
            <a:solidFill>
              <a:srgbClr val="63DFC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Users/ezequiel/Documents/Repositorios/hogarconectado-backend/docs/presentaciones/assets/logo-hogar-conectado.png"/>
          <p:cNvPicPr/>
          <p:nvPr/>
        </p:nvPicPr>
        <p:blipFill>
          <a:blip r:embed="rId1"/>
          <a:stretch/>
        </p:blipFill>
        <p:spPr>
          <a:xfrm>
            <a:off x="929520" y="438840"/>
            <a:ext cx="87480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2"/>
          <p:cNvSpPr/>
          <p:nvPr/>
        </p:nvSpPr>
        <p:spPr>
          <a:xfrm>
            <a:off x="713160" y="1481400"/>
            <a:ext cx="4754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Guía comercial</a:t>
            </a:r>
            <a:endParaRPr lang="es-AR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731520" y="2212920"/>
            <a:ext cx="46630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Cómo sumar productos y vendedores con reglas claras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731520" y="3520440"/>
            <a:ext cx="4205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Propuesta comercial, confianza y evolución de la plataforma</a:t>
            </a:r>
            <a:endParaRPr lang="es-A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713160" y="4617720"/>
            <a:ext cx="3382920" cy="585000"/>
          </a:xfrm>
          <a:prstGeom prst="roundRect">
            <a:avLst>
              <a:gd name="adj" fmla="val 18750"/>
            </a:avLst>
          </a:prstGeom>
          <a:solidFill>
            <a:srgbClr val="756BFF"/>
          </a:solidFill>
          <a:ln w="12700">
            <a:solidFill>
              <a:srgbClr val="75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914400" y="4791600"/>
            <a:ext cx="2971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venir Next"/>
                <a:ea typeface="Avenir Next"/>
              </a:rPr>
              <a:t>Una venta. Reglas visibles para todos.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1" descr="/Users/ezequiel/Documents/Repositorios/hogarconectado-backend/docs/presentaciones/assets/ecosistema-comercial.png"/>
          <p:cNvPicPr/>
          <p:nvPr/>
        </p:nvPicPr>
        <p:blipFill>
          <a:blip r:embed="rId2"/>
          <a:stretch/>
        </p:blipFill>
        <p:spPr>
          <a:xfrm>
            <a:off x="5486400" y="457200"/>
            <a:ext cx="6171840" cy="587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La propuesta central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Hogar Conectado amplía la capacidad de venta sin reemplazar los canales actuales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777240" y="1783080"/>
            <a:ext cx="4754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Un canal adicional</a:t>
            </a: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786240" y="2523600"/>
            <a:ext cx="4663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Una persona suma sus productos cuando percibe ventas adicionales, reglas claras y control sobre su negocio.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786240" y="4160520"/>
            <a:ext cx="1508400" cy="383760"/>
          </a:xfrm>
          <a:prstGeom prst="roundRect">
            <a:avLst>
              <a:gd name="adj" fmla="val 28571"/>
            </a:avLst>
          </a:prstGeom>
          <a:solidFill>
            <a:srgbClr val="DDFBF2"/>
          </a:solidFill>
          <a:ln w="12700">
            <a:solidFill>
              <a:srgbClr val="DDFB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859680" y="4242960"/>
            <a:ext cx="1362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SIN EXCLUSIVIDAD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2468880" y="4160520"/>
            <a:ext cx="1965600" cy="383760"/>
          </a:xfrm>
          <a:prstGeom prst="roundRect">
            <a:avLst>
              <a:gd name="adj" fmla="val 28571"/>
            </a:avLst>
          </a:prstGeom>
          <a:solidFill>
            <a:srgbClr val="ECECFF"/>
          </a:solidFill>
          <a:ln w="12700">
            <a:solidFill>
              <a:srgbClr val="ECE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2541960" y="424296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RESULTADOS MEDIBLES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617720" y="4160520"/>
            <a:ext cx="1508400" cy="383760"/>
          </a:xfrm>
          <a:prstGeom prst="roundRect">
            <a:avLst>
              <a:gd name="adj" fmla="val 28571"/>
            </a:avLst>
          </a:prstGeom>
          <a:solidFill>
            <a:srgbClr val="DDFBF2"/>
          </a:solidFill>
          <a:ln w="12700">
            <a:solidFill>
              <a:srgbClr val="DDFB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4690800" y="4242960"/>
            <a:ext cx="1362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REGLAS PREVIAS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/Users/ezequiel/Documents/Repositorios/hogarconectado-backend/docs/presentaciones/assets/ecosistema-comercial.png"/>
          <p:cNvPicPr/>
          <p:nvPr/>
        </p:nvPicPr>
        <p:blipFill>
          <a:blip r:embed="rId1"/>
          <a:stretch/>
        </p:blipFill>
        <p:spPr>
          <a:xfrm>
            <a:off x="6565320" y="1527120"/>
            <a:ext cx="4937400" cy="429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El valor para cada participante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La propuesta funciona cuando cada parte entiende qué recibe y qué responsabilidad asume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640080" y="1600200"/>
            <a:ext cx="2605680" cy="3428640"/>
          </a:xfrm>
          <a:prstGeom prst="roundRect">
            <a:avLst>
              <a:gd name="adj" fmla="val 3509"/>
            </a:avLst>
          </a:prstGeom>
          <a:solidFill>
            <a:srgbClr val="F4FFFB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841320" y="1801440"/>
            <a:ext cx="273960" cy="2739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334880" y="1783080"/>
            <a:ext cx="170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Dueño del producto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868680" y="2258640"/>
            <a:ext cx="21484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Amplía el alcance sin abandonar sus canales. Mantiene control sobre precio, disponibilidad y condiciones.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3401640" y="1600200"/>
            <a:ext cx="2605680" cy="3428640"/>
          </a:xfrm>
          <a:prstGeom prst="roundRect">
            <a:avLst>
              <a:gd name="adj" fmla="val 3509"/>
            </a:avLst>
          </a:prstGeom>
          <a:solidFill>
            <a:srgbClr val="F7F6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3602880" y="1801440"/>
            <a:ext cx="273960" cy="2739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4096440" y="1783080"/>
            <a:ext cx="170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Vendedor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3630240" y="2258640"/>
            <a:ext cx="21484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Ofrece productos sin comprar stock. Conoce su ganancia antes de vender y registra cada oportunidad.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6163200" y="1600200"/>
            <a:ext cx="2605680" cy="3428640"/>
          </a:xfrm>
          <a:prstGeom prst="roundRect">
            <a:avLst>
              <a:gd name="adj" fmla="val 3509"/>
            </a:avLst>
          </a:prstGeom>
          <a:solidFill>
            <a:srgbClr val="FFFDF3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1"/>
          <p:cNvSpPr/>
          <p:nvPr/>
        </p:nvSpPr>
        <p:spPr>
          <a:xfrm>
            <a:off x="6364080" y="1801440"/>
            <a:ext cx="273960" cy="273960"/>
          </a:xfrm>
          <a:prstGeom prst="ellipse">
            <a:avLst/>
          </a:prstGeom>
          <a:solidFill>
            <a:srgbClr val="FFD96D"/>
          </a:solidFill>
          <a:ln w="12700">
            <a:solidFill>
              <a:srgbClr val="FFD9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6858000" y="1783080"/>
            <a:ext cx="170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Comprador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6391800" y="2258640"/>
            <a:ext cx="21484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Encuentra información clara, recibe una respuesta rápida y puede seguir el pago y la entrega.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8924400" y="1600200"/>
            <a:ext cx="2605680" cy="3428640"/>
          </a:xfrm>
          <a:prstGeom prst="roundRect">
            <a:avLst>
              <a:gd name="adj" fmla="val 3509"/>
            </a:avLst>
          </a:prstGeom>
          <a:solidFill>
            <a:srgbClr val="F6F5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9125640" y="1801440"/>
            <a:ext cx="273960" cy="273960"/>
          </a:xfrm>
          <a:prstGeom prst="ellipse">
            <a:avLst/>
          </a:prstGeom>
          <a:solidFill>
            <a:srgbClr val="756BFF"/>
          </a:solidFill>
          <a:ln w="12700">
            <a:solidFill>
              <a:srgbClr val="75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9619560" y="1783080"/>
            <a:ext cx="1709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Hogar Conectado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9153000" y="2258640"/>
            <a:ext cx="214848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Ordena la operación, registra el origen de la venta y supervisa que se cumplan las reglas acordadas.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1371600" y="541332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El valor surge de coordinar mejor una venta que ya necesita producto, vendedor y comprador.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Quien incorpora productos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La plataforma debe aportar distribución adicional y reducir trabajo repetitivo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777240" y="1572840"/>
            <a:ext cx="480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Puede seguir vendiendo por su cuenta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804600" y="2267640"/>
            <a:ext cx="4800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Hogar Conectado prepara una ficha ordenada, permite que otros vendedores compartan el producto y registra cada oportunidad.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804600" y="3657600"/>
            <a:ext cx="484596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2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987480" y="3840480"/>
            <a:ext cx="273960" cy="2739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426320" y="3749040"/>
            <a:ext cx="1444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Control comercial</a:t>
            </a:r>
            <a:endParaRPr lang="es-A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3090600" y="374904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Confirma precio, disponibilidad y condiciones antes de publicar.</a:t>
            </a:r>
            <a:endParaRPr lang="es-A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804600" y="4462200"/>
            <a:ext cx="484596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2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987480" y="4645080"/>
            <a:ext cx="273960" cy="2739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1426320" y="4553640"/>
            <a:ext cx="1444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Trazabilidad</a:t>
            </a:r>
            <a:endParaRPr lang="es-A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3090600" y="455364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Sabe quién originó la consulta o la venta.</a:t>
            </a:r>
            <a:endParaRPr lang="es-A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804600" y="5266800"/>
            <a:ext cx="4845960" cy="65808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2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987480" y="5449680"/>
            <a:ext cx="273960" cy="2739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1426320" y="5358240"/>
            <a:ext cx="1444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Prueba de bajo riesgo</a:t>
            </a:r>
            <a:endParaRPr lang="es-A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3090600" y="535824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Empieza con pocos productos y evalúa resultados.</a:t>
            </a:r>
            <a:endParaRPr lang="es-A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/Users/ezequiel/Documents/Repositorios/hogarconectado-backend/docs/presentaciones/assets/ecosistema-comercial.png"/>
          <p:cNvPicPr/>
          <p:nvPr/>
        </p:nvPicPr>
        <p:blipFill>
          <a:blip r:embed="rId1"/>
          <a:stretch/>
        </p:blipFill>
        <p:spPr>
          <a:xfrm>
            <a:off x="6080760" y="1417320"/>
            <a:ext cx="5348880" cy="491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El rol del vendedor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Puede vender sin financiar inventario, pero debe trabajar con información vigente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Users/ezequiel/Documents/Repositorios/hogarconectado-backend/docs/presentaciones/assets/vidriera-vendedor.png"/>
          <p:cNvPicPr/>
          <p:nvPr/>
        </p:nvPicPr>
        <p:blipFill>
          <a:blip r:embed="rId1"/>
          <a:stretch/>
        </p:blipFill>
        <p:spPr>
          <a:xfrm>
            <a:off x="567000" y="1389960"/>
            <a:ext cx="571464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2"/>
          <p:cNvSpPr/>
          <p:nvPr/>
        </p:nvSpPr>
        <p:spPr>
          <a:xfrm>
            <a:off x="6629400" y="160020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Qué gana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656760" y="2148840"/>
            <a:ext cx="46630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• Productos listos para compartir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• Ganancia visible antes de vender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• Historial de oportunidades y ventas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629400" y="379476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3DFC4"/>
                </a:solidFill>
                <a:effectLst/>
                <a:uFillTx/>
                <a:latin typeface="Avenir Next"/>
                <a:ea typeface="Avenir Next"/>
              </a:rPr>
              <a:t>Qué debe cumplir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656760" y="4343400"/>
            <a:ext cx="475452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• Comunicar precios autorizados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• Registrar al comprador y el acuerdo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• No prometer stock ni entrega sin confirmar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Reparto inicial del margen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La comisión se calcula sobre el margen comercial neto, no sobre el precio total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822960" y="1828800"/>
            <a:ext cx="6080400" cy="1782720"/>
          </a:xfrm>
          <a:prstGeom prst="roundRect">
            <a:avLst>
              <a:gd name="adj" fmla="val 6154"/>
            </a:avLst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951120" y="2048400"/>
            <a:ext cx="5824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60%</a:t>
            </a:r>
            <a:endParaRPr lang="es-A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914400" y="2834640"/>
            <a:ext cx="5897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Vendedor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6995160" y="1828800"/>
            <a:ext cx="2971440" cy="1782720"/>
          </a:xfrm>
          <a:prstGeom prst="roundRect">
            <a:avLst>
              <a:gd name="adj" fmla="val 6154"/>
            </a:avLst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123320" y="2048400"/>
            <a:ext cx="271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30%</a:t>
            </a:r>
            <a:endParaRPr lang="es-A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7086600" y="283464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Incorporador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10058400" y="1828800"/>
            <a:ext cx="1325520" cy="1782720"/>
          </a:xfrm>
          <a:prstGeom prst="roundRect">
            <a:avLst>
              <a:gd name="adj" fmla="val 8276"/>
            </a:avLst>
          </a:prstGeom>
          <a:solidFill>
            <a:srgbClr val="756BFF"/>
          </a:solidFill>
          <a:ln w="12700">
            <a:solidFill>
              <a:srgbClr val="75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10186560" y="2048400"/>
            <a:ext cx="1069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10%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10149840" y="2834640"/>
            <a:ext cx="1142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Plataforma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914400" y="3913560"/>
            <a:ext cx="5897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Consiguió al comprador y concretó la venta.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7086600" y="3913560"/>
            <a:ext cx="2788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Aportó el producto y mantuvo sus datos vigentes.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10149840" y="3913560"/>
            <a:ext cx="1142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Registró y ordenó la operación.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1417320" y="5074920"/>
            <a:ext cx="9417960" cy="776880"/>
          </a:xfrm>
          <a:prstGeom prst="roundRect">
            <a:avLst>
              <a:gd name="adj" fmla="val 14118"/>
            </a:avLst>
          </a:prstGeom>
          <a:solidFill>
            <a:srgbClr val="F1F2FF"/>
          </a:solidFill>
          <a:ln w="12700">
            <a:solidFill>
              <a:srgbClr val="D8D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1645920" y="5230440"/>
            <a:ext cx="539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Ejemplo: base $175.000 + margen $17.500 = venta $192.500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6812280" y="5230440"/>
            <a:ext cx="3702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$10.500 vendedor   $5.250 incorporador   $1.750 plataforma</a:t>
            </a:r>
            <a:endParaRPr lang="es-AR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Comisión según el servicio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Un porcentaje mayor solo se justifica cuando Hogar Conectado asume más trabajo y riesgo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731520" y="179208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10%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2697480" y="1719000"/>
            <a:ext cx="360" cy="960120"/>
          </a:xfrm>
          <a:prstGeom prst="line">
            <a:avLst/>
          </a:prstGeom>
          <a:ln w="762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2971800" y="168264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Vidriera y trazabilidad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5989320" y="1645920"/>
            <a:ext cx="50745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Publica, atribuye la oportunidad y registra la operación.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31520" y="320940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15%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2697480" y="3136320"/>
            <a:ext cx="360" cy="960120"/>
          </a:xfrm>
          <a:prstGeom prst="line">
            <a:avLst/>
          </a:prstGeom>
          <a:ln w="762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2971800" y="309996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Operación asistida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5989320" y="3063240"/>
            <a:ext cx="50745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También coordina pago, entrega y seguimiento.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731520" y="462672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Hasta 20%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2697480" y="4553640"/>
            <a:ext cx="360" cy="960120"/>
          </a:xfrm>
          <a:prstGeom prst="line">
            <a:avLst/>
          </a:prstGeom>
          <a:ln w="76200">
            <a:solidFill>
              <a:srgbClr val="75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2971800" y="451728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Operación completa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989320" y="4480560"/>
            <a:ext cx="50745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Además gestiona reclamos, conciliación y carga operativa.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1463040" y="5715000"/>
            <a:ext cx="9326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La regla económica se acuerda antes de publicar y queda asociada a la venta.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Responsables de la operación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Cada producto debe definir estas reglas antes de ofrecerse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777240" y="1572840"/>
            <a:ext cx="5166000" cy="1874160"/>
          </a:xfrm>
          <a:prstGeom prst="roundRect">
            <a:avLst>
              <a:gd name="adj" fmla="val 4878"/>
            </a:avLst>
          </a:prstGeom>
          <a:solidFill>
            <a:srgbClr val="F5FFFC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960120" y="1737360"/>
            <a:ext cx="438480" cy="43848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960120" y="1828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1472040" y="1755720"/>
            <a:ext cx="426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Quién cobra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1005840" y="2231280"/>
            <a:ext cx="4708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Propietario, proveedor o parte que factura. Usa un medio de pago identificable.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6217920" y="1572840"/>
            <a:ext cx="5166000" cy="1874160"/>
          </a:xfrm>
          <a:prstGeom prst="roundRect">
            <a:avLst>
              <a:gd name="adj" fmla="val 4878"/>
            </a:avLst>
          </a:prstGeom>
          <a:solidFill>
            <a:srgbClr val="F7F6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6400800" y="1737360"/>
            <a:ext cx="438480" cy="43848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6400800" y="1828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6912720" y="1755720"/>
            <a:ext cx="426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Quién entrega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6446520" y="2231280"/>
            <a:ext cx="4708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Responsable y costo acordados antes del pago. El envío queda separado del margen.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777240" y="3858840"/>
            <a:ext cx="5166000" cy="1874160"/>
          </a:xfrm>
          <a:prstGeom prst="roundRect">
            <a:avLst>
              <a:gd name="adj" fmla="val 4878"/>
            </a:avLst>
          </a:prstGeom>
          <a:solidFill>
            <a:srgbClr val="F5FFFC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960120" y="4023360"/>
            <a:ext cx="438480" cy="43848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960120" y="4114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1472040" y="4041720"/>
            <a:ext cx="426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Quién reparte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1005840" y="4517280"/>
            <a:ext cx="4708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La plataforma calcula. El administrador valida evidencias y habilita la liquidación.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6217920" y="3858840"/>
            <a:ext cx="5166000" cy="1874160"/>
          </a:xfrm>
          <a:prstGeom prst="roundRect">
            <a:avLst>
              <a:gd name="adj" fmla="val 4878"/>
            </a:avLst>
          </a:prstGeom>
          <a:solidFill>
            <a:srgbClr val="F7F6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6400800" y="4023360"/>
            <a:ext cx="438480" cy="43848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6400800" y="4114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6912720" y="4041720"/>
            <a:ext cx="426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Cuándo se liquida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6446520" y="4517280"/>
            <a:ext cx="4708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Después de acreditar el pago y registrar la entrega. Los reclamos suspenden el reparto.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Confianza y garantías posibles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La plataforma reduce el riesgo mediante evidencia, responsables y estados separados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0" descr="/Users/ezequiel/Documents/Repositorios/hogarconectado-backend/docs/presentaciones/assets/compra-segura.png"/>
          <p:cNvPicPr/>
          <p:nvPr/>
        </p:nvPicPr>
        <p:blipFill>
          <a:blip r:embed="rId1"/>
          <a:stretch/>
        </p:blipFill>
        <p:spPr>
          <a:xfrm>
            <a:off x="5440680" y="1325880"/>
            <a:ext cx="6171840" cy="50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ape 2"/>
          <p:cNvSpPr/>
          <p:nvPr/>
        </p:nvSpPr>
        <p:spPr>
          <a:xfrm>
            <a:off x="713160" y="1572840"/>
            <a:ext cx="438480" cy="43848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713160" y="165492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24D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1334880" y="15271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Identidades verificadas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1334880" y="19018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Cada acción conserva fecha y usuario responsable.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713160" y="2715840"/>
            <a:ext cx="438480" cy="43848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713160" y="279792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24D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1334880" y="26701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Reserva visible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1334880" y="30448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El stock propio se reserva durante un plazo informado.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713160" y="3858840"/>
            <a:ext cx="438480" cy="43848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713160" y="394092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24D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1334880" y="38131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Pago y entrega separados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1334880" y="41878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Confirmar el pago no equivale a confirmar la entrega.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713160" y="5001840"/>
            <a:ext cx="438480" cy="43848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713160" y="5083920"/>
            <a:ext cx="43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24D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1334880" y="49561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Reclamos documentados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1334880" y="53308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Un incidente suspende la liquidación hasta resolverlo.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Vidriera personal y atribución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El vendedor comparte un enlace identificable dentro del catálogo común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/Users/ezequiel/Documents/Repositorios/hogarconectado-backend/docs/presentaciones/assets/vidriera-vendedor.png"/>
          <p:cNvPicPr/>
          <p:nvPr/>
        </p:nvPicPr>
        <p:blipFill>
          <a:blip r:embed="rId1"/>
          <a:stretch/>
        </p:blipFill>
        <p:spPr>
          <a:xfrm>
            <a:off x="530280" y="1325880"/>
            <a:ext cx="6537600" cy="50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Shape 2"/>
          <p:cNvSpPr/>
          <p:nvPr/>
        </p:nvSpPr>
        <p:spPr>
          <a:xfrm>
            <a:off x="7360920" y="157284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F4FFFB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7562160" y="1774080"/>
            <a:ext cx="273960" cy="2739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8055720" y="1755720"/>
            <a:ext cx="308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Enlace personal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7589520" y="223128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Muestra todo el catálogo autorizado o una selección propia.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7360920" y="303588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F7F6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7562160" y="3237120"/>
            <a:ext cx="273960" cy="2739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8055720" y="3218760"/>
            <a:ext cx="308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Acción verificable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7589520" y="369432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La consulta, cotización o compra congela la atribución.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7360920" y="449892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FFFDF3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7562160" y="4700160"/>
            <a:ext cx="273960" cy="273960"/>
          </a:xfrm>
          <a:prstGeom prst="ellipse">
            <a:avLst/>
          </a:prstGeom>
          <a:solidFill>
            <a:srgbClr val="FFD96D"/>
          </a:solidFill>
          <a:ln w="12700">
            <a:solidFill>
              <a:srgbClr val="FFD9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8055720" y="4681800"/>
            <a:ext cx="308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Comisión protegida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7589520" y="515736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Otra persona puede completar la atención sin quitar la comisión de origen.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Recorrido de compra inmediata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Comprar ahora convive con Consultar según el stock y las condiciones del producto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207080" y="1691640"/>
            <a:ext cx="621360" cy="6213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1207080" y="1847160"/>
            <a:ext cx="62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1865160" y="2002320"/>
            <a:ext cx="1188720" cy="360"/>
          </a:xfrm>
          <a:prstGeom prst="line">
            <a:avLst/>
          </a:prstGeom>
          <a:ln w="25400">
            <a:solidFill>
              <a:srgbClr val="B9C1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667440" y="2578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Producto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640080" y="3063240"/>
            <a:ext cx="1755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Precio, stock y entrega estimada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3108960" y="1691640"/>
            <a:ext cx="621360" cy="6213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3108960" y="1847160"/>
            <a:ext cx="62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3767040" y="2002320"/>
            <a:ext cx="1188720" cy="360"/>
          </a:xfrm>
          <a:prstGeom prst="line">
            <a:avLst/>
          </a:prstGeom>
          <a:ln w="25400">
            <a:solidFill>
              <a:srgbClr val="B9C1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2569320" y="2578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Comprador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2541960" y="3063240"/>
            <a:ext cx="1755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Contacto y datos de entrega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5010840" y="1691640"/>
            <a:ext cx="621360" cy="6213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5010840" y="1847160"/>
            <a:ext cx="62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5669280" y="2002320"/>
            <a:ext cx="1188720" cy="360"/>
          </a:xfrm>
          <a:prstGeom prst="line">
            <a:avLst/>
          </a:prstGeom>
          <a:ln w="25400">
            <a:solidFill>
              <a:srgbClr val="B9C1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4471560" y="2578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Reserva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4443840" y="3063240"/>
            <a:ext cx="1755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Stock reservado por 24 horas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6912720" y="1691640"/>
            <a:ext cx="621360" cy="6213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6912720" y="1847160"/>
            <a:ext cx="62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7571160" y="2002320"/>
            <a:ext cx="1188720" cy="360"/>
          </a:xfrm>
          <a:prstGeom prst="line">
            <a:avLst/>
          </a:prstGeom>
          <a:ln w="25400">
            <a:solidFill>
              <a:srgbClr val="B9C1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6373440" y="2578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Pago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6346080" y="3063240"/>
            <a:ext cx="1755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Enlace seguro y confirmación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8814960" y="1691640"/>
            <a:ext cx="621360" cy="6213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3"/>
          <p:cNvSpPr/>
          <p:nvPr/>
        </p:nvSpPr>
        <p:spPr>
          <a:xfrm>
            <a:off x="8814960" y="1847160"/>
            <a:ext cx="62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5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4"/>
          <p:cNvSpPr/>
          <p:nvPr/>
        </p:nvSpPr>
        <p:spPr>
          <a:xfrm>
            <a:off x="9473040" y="2002320"/>
            <a:ext cx="1188720" cy="360"/>
          </a:xfrm>
          <a:prstGeom prst="line">
            <a:avLst/>
          </a:prstGeom>
          <a:ln w="25400">
            <a:solidFill>
              <a:srgbClr val="B9C1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5"/>
          <p:cNvSpPr/>
          <p:nvPr/>
        </p:nvSpPr>
        <p:spPr>
          <a:xfrm>
            <a:off x="8275320" y="2578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Entrega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6"/>
          <p:cNvSpPr/>
          <p:nvPr/>
        </p:nvSpPr>
        <p:spPr>
          <a:xfrm>
            <a:off x="8247960" y="3063240"/>
            <a:ext cx="1755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Seguimiento y comprobantes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10716840" y="1691640"/>
            <a:ext cx="621360" cy="6213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10716840" y="1847160"/>
            <a:ext cx="62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6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10177200" y="2578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Cierre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0"/>
          <p:cNvSpPr/>
          <p:nvPr/>
        </p:nvSpPr>
        <p:spPr>
          <a:xfrm>
            <a:off x="10149840" y="3063240"/>
            <a:ext cx="1755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Recepción, reclamo o liquidación</a:t>
            </a:r>
            <a:endParaRPr lang="es-AR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1"/>
          <p:cNvSpPr/>
          <p:nvPr/>
        </p:nvSpPr>
        <p:spPr>
          <a:xfrm>
            <a:off x="1234440" y="4956120"/>
            <a:ext cx="9692280" cy="840960"/>
          </a:xfrm>
          <a:prstGeom prst="roundRect">
            <a:avLst>
              <a:gd name="adj" fmla="val 13043"/>
            </a:avLst>
          </a:prstGeom>
          <a:solidFill>
            <a:srgbClr val="ECECFF"/>
          </a:solidFill>
          <a:ln w="12700">
            <a:solidFill>
              <a:srgbClr val="D6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2"/>
          <p:cNvSpPr/>
          <p:nvPr/>
        </p:nvSpPr>
        <p:spPr>
          <a:xfrm>
            <a:off x="1554480" y="5221080"/>
            <a:ext cx="905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Productos con disponibilidad incierta mantienen un flujo de consulta claro antes del pago.</a:t>
            </a:r>
            <a:endParaRPr lang="es-AR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Respuestas a las objeciones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Mensajes breves para explicar el modelo sin prometer más de lo que podemos cumplir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713160" y="1508760"/>
            <a:ext cx="5257440" cy="1846800"/>
          </a:xfrm>
          <a:prstGeom prst="roundRect">
            <a:avLst>
              <a:gd name="adj" fmla="val 4950"/>
            </a:avLst>
          </a:prstGeom>
          <a:solidFill>
            <a:srgbClr val="F4FFFB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"/>
          <p:cNvSpPr/>
          <p:nvPr/>
        </p:nvSpPr>
        <p:spPr>
          <a:xfrm>
            <a:off x="914400" y="1710000"/>
            <a:ext cx="273960" cy="2739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1408320" y="1691640"/>
            <a:ext cx="436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“20% es mucho”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941760" y="2167200"/>
            <a:ext cx="4800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Para el piloto proponemos 10% del margen. Una participación mayor requiere servicios adicionales.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6199560" y="1508760"/>
            <a:ext cx="5257440" cy="1846800"/>
          </a:xfrm>
          <a:prstGeom prst="roundRect">
            <a:avLst>
              <a:gd name="adj" fmla="val 4950"/>
            </a:avLst>
          </a:prstGeom>
          <a:solidFill>
            <a:srgbClr val="F7F6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7"/>
          <p:cNvSpPr/>
          <p:nvPr/>
        </p:nvSpPr>
        <p:spPr>
          <a:xfrm>
            <a:off x="6400800" y="1710000"/>
            <a:ext cx="273960" cy="2739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6894720" y="1691640"/>
            <a:ext cx="436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“¿Quién garantiza pago y entrega?”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9"/>
          <p:cNvSpPr/>
          <p:nvPr/>
        </p:nvSpPr>
        <p:spPr>
          <a:xfrm>
            <a:off x="6428160" y="2167200"/>
            <a:ext cx="4800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Definimos responsables, comprobantes, plazos y un proceso de reclamo. Luego integraremos pagos automáticos.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713160" y="3794760"/>
            <a:ext cx="5257440" cy="1846800"/>
          </a:xfrm>
          <a:prstGeom prst="roundRect">
            <a:avLst>
              <a:gd name="adj" fmla="val 4950"/>
            </a:avLst>
          </a:prstGeom>
          <a:solidFill>
            <a:srgbClr val="F4FFFB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1"/>
          <p:cNvSpPr/>
          <p:nvPr/>
        </p:nvSpPr>
        <p:spPr>
          <a:xfrm>
            <a:off x="914400" y="3996000"/>
            <a:ext cx="273960" cy="273960"/>
          </a:xfrm>
          <a:prstGeom prst="ellipse">
            <a:avLst/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1408320" y="3977640"/>
            <a:ext cx="436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“Quiero mi propia vidriera”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3"/>
          <p:cNvSpPr/>
          <p:nvPr/>
        </p:nvSpPr>
        <p:spPr>
          <a:xfrm>
            <a:off x="941760" y="4453200"/>
            <a:ext cx="4800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Cada vendedor tendrá un enlace identificable. Las acciones iniciadas allí conservan su atribución.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6199560" y="3794760"/>
            <a:ext cx="5257440" cy="1846800"/>
          </a:xfrm>
          <a:prstGeom prst="roundRect">
            <a:avLst>
              <a:gd name="adj" fmla="val 4950"/>
            </a:avLst>
          </a:prstGeom>
          <a:solidFill>
            <a:srgbClr val="F7F6FF"/>
          </a:solidFill>
          <a:ln w="13970">
            <a:solidFill>
              <a:srgbClr val="DDE2EE"/>
            </a:solidFill>
            <a:round/>
          </a:ln>
          <a:effectLst>
            <a:outerShdw algn="bl" blurRad="19080" dir="2700000" dist="50402" kx="0" ky="0" rotWithShape="0" sx="100000" sy="100000">
              <a:srgbClr val="C8CDD8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6400800" y="3996000"/>
            <a:ext cx="273960" cy="273960"/>
          </a:xfrm>
          <a:prstGeom prst="ellipse">
            <a:avLst/>
          </a:prstGeom>
          <a:solidFill>
            <a:srgbClr val="AEB3FF"/>
          </a:solidFill>
          <a:ln w="1270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6"/>
          <p:cNvSpPr/>
          <p:nvPr/>
        </p:nvSpPr>
        <p:spPr>
          <a:xfrm>
            <a:off x="6894720" y="3977640"/>
            <a:ext cx="436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“Quiero comprar ahora”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7"/>
          <p:cNvSpPr/>
          <p:nvPr/>
        </p:nvSpPr>
        <p:spPr>
          <a:xfrm>
            <a:off x="6428160" y="4453200"/>
            <a:ext cx="48002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Los productos con stock confirmado tendrán reserva y pago seguro. Los demás mantendrán consulta previa.</a:t>
            </a:r>
            <a:endParaRPr lang="es-AR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658440" y="502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Evolución priorizada</a:t>
            </a:r>
            <a:endParaRPr lang="es-A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685800" y="106056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8758F"/>
                </a:solidFill>
                <a:effectLst/>
                <a:uFillTx/>
                <a:latin typeface="Avenir Next"/>
                <a:ea typeface="Avenir Next"/>
              </a:rPr>
              <a:t>La confianza se construye antes de incorporar pagos y volumen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868680" y="1645920"/>
            <a:ext cx="3245760" cy="3337200"/>
          </a:xfrm>
          <a:prstGeom prst="roundRect">
            <a:avLst>
              <a:gd name="adj" fmla="val 3944"/>
            </a:avLst>
          </a:prstGeom>
          <a:solidFill>
            <a:srgbClr val="E7FBF5"/>
          </a:solidFill>
          <a:ln w="1905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109728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1097280" y="2697480"/>
            <a:ext cx="2742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Reglas y atribución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1097280" y="3566160"/>
            <a:ext cx="27428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Vidriera personal, comisión configurable, responsables e historial.</a:t>
            </a:r>
            <a:endParaRPr lang="es-A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4663440" y="1645920"/>
            <a:ext cx="3245760" cy="3337200"/>
          </a:xfrm>
          <a:prstGeom prst="roundRect">
            <a:avLst>
              <a:gd name="adj" fmla="val 3944"/>
            </a:avLst>
          </a:prstGeom>
          <a:solidFill>
            <a:srgbClr val="EEEEFF"/>
          </a:solidFill>
          <a:ln w="1905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89204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4892040" y="2697480"/>
            <a:ext cx="2742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Compra asistida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4892040" y="3566160"/>
            <a:ext cx="27428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Reserva, comprobante de pago, seguimiento de entrega y reclamos.</a:t>
            </a:r>
            <a:endParaRPr lang="es-A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8458200" y="1645920"/>
            <a:ext cx="3245760" cy="3337200"/>
          </a:xfrm>
          <a:prstGeom prst="roundRect">
            <a:avLst>
              <a:gd name="adj" fmla="val 3944"/>
            </a:avLst>
          </a:prstGeom>
          <a:solidFill>
            <a:srgbClr val="F5EEFF"/>
          </a:solidFill>
          <a:ln w="19050">
            <a:solidFill>
              <a:srgbClr val="AEB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8686800" y="1920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8686800" y="2697480"/>
            <a:ext cx="2742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Pagos integrados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8686800" y="3566160"/>
            <a:ext cx="27428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17213F"/>
                </a:solidFill>
                <a:effectLst/>
                <a:uFillTx/>
                <a:latin typeface="Avenir Next"/>
                <a:ea typeface="Avenir Next"/>
              </a:rPr>
              <a:t>Confirmación automática, división de fondos y devoluciones.</a:t>
            </a:r>
            <a:endParaRPr lang="es-A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1234440" y="5440680"/>
            <a:ext cx="9738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56BFF"/>
                </a:solidFill>
                <a:effectLst/>
                <a:uFillTx/>
                <a:latin typeface="Avenir Next"/>
                <a:ea typeface="Avenir Next"/>
              </a:rPr>
              <a:t>Primero debemos demostrar que la atribución y la liquidación funcionan sin conflictos.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 rot="1200000">
            <a:off x="-731160" y="-82260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63DFC4"/>
          </a:solidFill>
          <a:ln w="12700">
            <a:solidFill>
              <a:srgbClr val="63DFC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 rot="12300000">
            <a:off x="10332720" y="4892040"/>
            <a:ext cx="2742840" cy="27428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756BFF"/>
          </a:solidFill>
          <a:ln w="12700">
            <a:solidFill>
              <a:srgbClr val="756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/Users/ezequiel/Documents/Repositorios/hogarconectado-backend/docs/presentaciones/assets/logo-hogar-conectado.png"/>
          <p:cNvPicPr/>
          <p:nvPr/>
        </p:nvPicPr>
        <p:blipFill>
          <a:blip r:embed="rId1"/>
          <a:stretch/>
        </p:blipFill>
        <p:spPr>
          <a:xfrm>
            <a:off x="978840" y="530280"/>
            <a:ext cx="83088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"/>
          <p:cNvSpPr/>
          <p:nvPr/>
        </p:nvSpPr>
        <p:spPr>
          <a:xfrm>
            <a:off x="786240" y="1673280"/>
            <a:ext cx="5486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venir Next"/>
                <a:ea typeface="Avenir Next"/>
              </a:rPr>
              <a:t>La promesa comercial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804600" y="2606040"/>
            <a:ext cx="690336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9EDFF"/>
                </a:solidFill>
                <a:effectLst/>
                <a:uFillTx/>
                <a:latin typeface="Avenir Next"/>
                <a:ea typeface="Avenir Next"/>
              </a:rPr>
              <a:t>Hogar Conectado suma un canal de venta, protege la atribución y deja claro desde el inicio quién cobra, quién entrega y cuánto recibe cada parte.</a:t>
            </a:r>
            <a:endParaRPr lang="es-A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822960" y="4800600"/>
            <a:ext cx="4571640" cy="676440"/>
          </a:xfrm>
          <a:prstGeom prst="roundRect">
            <a:avLst>
              <a:gd name="adj" fmla="val 18919"/>
            </a:avLst>
          </a:prstGeom>
          <a:solidFill>
            <a:srgbClr val="63DFC4"/>
          </a:solidFill>
          <a:ln w="12700">
            <a:solidFill>
              <a:srgbClr val="63D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1078920" y="501084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24D"/>
                </a:solidFill>
                <a:effectLst/>
                <a:uFillTx/>
                <a:latin typeface="Avenir Next"/>
                <a:ea typeface="Avenir Next"/>
              </a:rPr>
              <a:t>Probar, medir y ajustar antes de escalar</a:t>
            </a:r>
            <a:endParaRPr lang="es-AR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1" descr="/Users/ezequiel/Documents/Repositorios/hogarconectado-backend/docs/presentaciones/assets/ecosistema-comercial.png"/>
          <p:cNvPicPr/>
          <p:nvPr/>
        </p:nvPicPr>
        <p:blipFill>
          <a:blip r:embed="rId2"/>
          <a:stretch/>
        </p:blipFill>
        <p:spPr>
          <a:xfrm>
            <a:off x="7699320" y="0"/>
            <a:ext cx="44802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LibreOffice/26.8.0.3$MacOSX_X86_64 LibreOffice_project/bce0998afefdbc355585ca324285661a2170ba77</Application>
  <AppVersion>15.0000</AppVersion>
  <Words>0</Words>
  <Paragraphs>0</Paragraphs>
  <Company>Hogar Conectado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2026-09-18T14:02:00Z</dcterms:created>
  <dc:creator>Hogar Conectado</dc:creator>
  <dc:description/>
  <dc:language>es-AR</dc:language>
  <cp:lastModifiedBy>Hogar Conectado</cp:lastModifiedBy>
  <dcterms:modified xsi:type="dcterms:W3CDTF">2026-09-18T14:02:00Z</dcterms:modified>
  <cp:revision>1</cp:revision>
  <dc:subject>Guía comercial para sumar productos y vendedores</dc:subject>
  <dc:title>Guía comercial de Hogar Conectado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